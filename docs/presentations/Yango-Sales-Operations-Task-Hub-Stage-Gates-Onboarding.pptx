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this as a focused onboarding for release 0.2.43: task execution and controlled pipeline progression.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feedback-to-delivery checklist. Every item is live in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two related but separate flows: task execution and pipeline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where the new task hub lives and explain personal vs shared task visibility.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Created by Me gives task creators ownership visibility after delegation.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central task editor reused in both My Space and Lead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Reassignment is an auditable handoff, not a silent owner field update.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Follow-up creates a linked task chain instead of losing context in a new standalone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the task hub has durable history and traceable follow-up chains.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UX change is that the board does not pretend a move succeeded before the server validates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fields can be entered in the lead Overview or requested by a stage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matrix top to bottom. Gates accumulate on forward skips.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screenshot shows a Proposal Sent → Negotiation gate with accumulated missing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Signing is not just a status update — it is a cross-team handover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backend contracts and object-level task authorization.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the walkthrough with the practical day-to-day behavior expected from managers.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operational outcome: fewer lost follow-ups and cleaner stage progression.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pic>
        <p:nvPicPr>
          <p:cNvPr id="5" name="Image 0" descr="/Users/igorkuznetsov/Projects/my-crm/docs/presentations/assets/yang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05840"/>
            <a:ext cx="1234440" cy="12344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148840" y="1143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2148840" y="1645920"/>
            <a:ext cx="8961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Space Task Hub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Pipeline Stage Gates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2148840" y="32461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walkthrough — what was implemented from feedback,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every flow works, and what happens behind the scenes.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2148840" y="4572000"/>
            <a:ext cx="1508760" cy="320040"/>
          </a:xfrm>
          <a:prstGeom prst="roundRect">
            <a:avLst>
              <a:gd name="adj" fmla="val 34286"/>
            </a:avLst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148840" y="46405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0.2.43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822192" y="4572000"/>
            <a:ext cx="1280160" cy="320040"/>
          </a:xfrm>
          <a:prstGeom prst="roundRect">
            <a:avLst>
              <a:gd name="adj" fmla="val 342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822192" y="46405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2148840" y="5989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 Taxi Oz · Internal onboarding ·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Release 0.2.43 · Confidential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→ DELIVERY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8463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requested capability is now connected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457200" y="96926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implementation areas — one operating flow from task execution to signed-client handover.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444752"/>
            <a:ext cx="349300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1609344"/>
            <a:ext cx="347472" cy="347472"/>
          </a:xfrm>
          <a:prstGeom prst="ellipse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165963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97280" y="15910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schema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8368" y="1965960"/>
            <a:ext cx="30906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Summary, parent task, append-only events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24528" y="1444752"/>
            <a:ext cx="349300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07408" y="1609344"/>
            <a:ext cx="347472" cy="347472"/>
          </a:xfrm>
          <a:prstGeom prst="ellipse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07408" y="165963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64608" y="15910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API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425696" y="1965960"/>
            <a:ext cx="30906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Detail, scope=created, auth, events, reassign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991856" y="1444752"/>
            <a:ext cx="349300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174736" y="1609344"/>
            <a:ext cx="347472" cy="347472"/>
          </a:xfrm>
          <a:prstGeom prst="ellipse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74736" y="165963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631936" y="15910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Drawer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193024" y="1965960"/>
            <a:ext cx="30906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editor in My Space and Lead Tasks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7200" y="3017520"/>
            <a:ext cx="349300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40080" y="3182112"/>
            <a:ext cx="347472" cy="347472"/>
          </a:xfrm>
          <a:prstGeom prst="ellipse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32324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097280" y="3163824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Me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58368" y="3538728"/>
            <a:ext cx="30906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Creator-centric workload visibility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24528" y="3017520"/>
            <a:ext cx="349300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407408" y="3182112"/>
            <a:ext cx="347472" cy="347472"/>
          </a:xfrm>
          <a:prstGeom prst="ellipse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407408" y="32324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864608" y="3163824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fields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425696" y="3538728"/>
            <a:ext cx="30906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Pricing, amount, contract, Corp Client ID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7991856" y="3017520"/>
            <a:ext cx="349300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8174736" y="3182112"/>
            <a:ext cx="347472" cy="347472"/>
          </a:xfrm>
          <a:prstGeom prst="ellipse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74736" y="32324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8631936" y="3163824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service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8193024" y="3538728"/>
            <a:ext cx="30906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preflight + structured 422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57200" y="4590288"/>
            <a:ext cx="349300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40080" y="4754880"/>
            <a:ext cx="347472" cy="347472"/>
          </a:xfrm>
          <a:prstGeom prst="ellipse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0080" y="480517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1097280" y="4736592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modal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658368" y="5111496"/>
            <a:ext cx="30906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missing fields are requested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4224528" y="4590288"/>
            <a:ext cx="349300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5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4407408" y="4754880"/>
            <a:ext cx="347472" cy="347472"/>
          </a:xfrm>
          <a:prstGeom prst="ellipse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407408" y="480517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864608" y="4736592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handover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4425696" y="5111496"/>
            <a:ext cx="30906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Client + First Client Call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7991856" y="4590288"/>
            <a:ext cx="3493008" cy="1298448"/>
          </a:xfrm>
          <a:prstGeom prst="roundRect">
            <a:avLst>
              <a:gd name="adj" fmla="val 563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5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8174736" y="4754880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174736" y="480517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8631936" y="4736592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/ HE + tests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8193024" y="5111496"/>
            <a:ext cx="30906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Localized UI, gate tests, production build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Release 0.2.43 · Confidential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8463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workflows, one source of truth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457200" y="96926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Space manages execution. Pipeline gates protect data quality and handover readiness.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41732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563624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SPACE · TASK EXECUTION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1938528"/>
            <a:ext cx="4946904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49808" y="1938528"/>
            <a:ext cx="4754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0976" y="2084832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50976" y="2459736"/>
            <a:ext cx="4352544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Tasks · Assigned · Created by Me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127248" y="2660904"/>
            <a:ext cx="0" cy="155448"/>
          </a:xfrm>
          <a:prstGeom prst="line">
            <a:avLst/>
          </a:prstGeom>
          <a:noFill/>
          <a:ln w="25400">
            <a:solidFill>
              <a:srgbClr val="FF2D2D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49808" y="2834640"/>
            <a:ext cx="4754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50976" y="2980944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list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50976" y="3355848"/>
            <a:ext cx="4352544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buckets, status, owner, lead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127248" y="3557016"/>
            <a:ext cx="0" cy="155448"/>
          </a:xfrm>
          <a:prstGeom prst="line">
            <a:avLst/>
          </a:prstGeom>
          <a:noFill/>
          <a:ln w="25400">
            <a:solidFill>
              <a:srgbClr val="FF2D2D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49808" y="3730752"/>
            <a:ext cx="4754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50976" y="3877056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Drawer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50976" y="4251960"/>
            <a:ext cx="4352544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· Summary · Timeline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127248" y="4453128"/>
            <a:ext cx="0" cy="155448"/>
          </a:xfrm>
          <a:prstGeom prst="line">
            <a:avLst/>
          </a:prstGeom>
          <a:noFill/>
          <a:ln w="25400">
            <a:solidFill>
              <a:srgbClr val="FF2D2D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49808" y="4626864"/>
            <a:ext cx="4754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50976" y="4773168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50976" y="5148072"/>
            <a:ext cx="4352544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Reassign · Create follow-up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172200" y="1417320"/>
            <a:ext cx="5559552" cy="4480560"/>
          </a:xfrm>
          <a:prstGeom prst="roundRect">
            <a:avLst>
              <a:gd name="adj" fmla="val 1633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73368" y="1563624"/>
            <a:ext cx="5157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· CONTROLLED PROGRESSION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373368" y="1938528"/>
            <a:ext cx="515721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473952" y="1938528"/>
            <a:ext cx="49560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75120" y="2084832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requested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675120" y="2459736"/>
            <a:ext cx="4553712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Drag/drop or status change in lead drawer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951976" y="2660904"/>
            <a:ext cx="0" cy="155448"/>
          </a:xfrm>
          <a:prstGeom prst="line">
            <a:avLst/>
          </a:prstGeom>
          <a:noFill/>
          <a:ln w="25400">
            <a:solidFill>
              <a:srgbClr val="FF2D2D"/>
            </a:solidFill>
            <a:prstDash val="solid"/>
            <a:headEnd type="none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6473952" y="2834640"/>
            <a:ext cx="49560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675120" y="2980944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preflight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675120" y="3355848"/>
            <a:ext cx="4553712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lead + contacts · evaluate gate matrix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8951976" y="3557016"/>
            <a:ext cx="0" cy="155448"/>
          </a:xfrm>
          <a:prstGeom prst="line">
            <a:avLst/>
          </a:prstGeom>
          <a:noFill/>
          <a:ln w="25400">
            <a:solidFill>
              <a:srgbClr val="FF2D2D"/>
            </a:solidFill>
            <a:prstDash val="solid"/>
            <a:headEnd type="none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6473952" y="3730752"/>
            <a:ext cx="49560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675120" y="3877056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Missing?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675120" y="4251960"/>
            <a:ext cx="4553712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422 → Stage Gate modal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8951976" y="4453128"/>
            <a:ext cx="0" cy="155448"/>
          </a:xfrm>
          <a:prstGeom prst="line">
            <a:avLst/>
          </a:prstGeom>
          <a:noFill/>
          <a:ln w="25400">
            <a:solidFill>
              <a:srgbClr val="FF2D2D"/>
            </a:solidFill>
            <a:prstDash val="solid"/>
            <a:headEnd type="none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6473952" y="4626864"/>
            <a:ext cx="49560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675120" y="47731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6675120" y="5148072"/>
            <a:ext cx="4553712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fields + status + stage side effects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Release 0.2.43 · Confidential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SPACE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8463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daily workspace for every kind of work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457200" y="96926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work stays private. Lead-linked work is collaborative and auditable.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1508760"/>
            <a:ext cx="4754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Tasks — private standalone tasks for the signed-in user.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 — lead tasks currently assigned to you.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Me — lead tasks you created, even when owned by somebody else.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— private personal notes; the privacy hint only appears on personal tabs.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 — your KPI actuals versus targets.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49824" y="1389888"/>
            <a:ext cx="6309360" cy="3986784"/>
          </a:xfrm>
          <a:prstGeom prst="roundRect">
            <a:avLst>
              <a:gd name="adj" fmla="val 183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0" descr="/Users/igorkuznetsov/Projects/my-crm/docs/presentations/assets/feedback-flow/01-my-space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4688" y="1444752"/>
            <a:ext cx="6199632" cy="38770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04688" y="5486400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Space · all five work contexts in one tab set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504688" y="5532120"/>
            <a:ext cx="6199632" cy="594360"/>
          </a:xfrm>
          <a:prstGeom prst="roundRect">
            <a:avLst>
              <a:gd name="adj" fmla="val 12308"/>
            </a:avLst>
          </a:prstGeom>
          <a:solidFill>
            <a:srgbClr val="FFF1F1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705856" y="5678424"/>
            <a:ext cx="5797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RULE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705856" y="6053328"/>
            <a:ext cx="5797296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“Private to you” applies only to personal tasks and notes — not lead-linked Assigned / Created by Me work.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Release 0.2.43 · Confidential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ME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8463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 work without losing visibility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457200" y="96926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creator can reopen, review, reassign and follow up from the same list.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" y="1362456"/>
            <a:ext cx="6739128" cy="4251960"/>
          </a:xfrm>
          <a:prstGeom prst="roundRect">
            <a:avLst>
              <a:gd name="adj" fmla="val 1720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8000"/>
              </a:srgbClr>
            </a:outerShdw>
          </a:effectLst>
        </p:spPr>
      </p:sp>
      <p:pic>
        <p:nvPicPr>
          <p:cNvPr id="10" name="Image 0" descr="/Users/igorkuznetsov/Projects/my-crm/docs/presentations/assets/feedback-flow/06-created-by-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6629400" cy="41422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5724144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scope is driven by sales_tasks.created_by_user_id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7452360" y="1417320"/>
            <a:ext cx="4251960" cy="877824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635240" y="1581912"/>
            <a:ext cx="347472" cy="347472"/>
          </a:xfrm>
          <a:prstGeom prst="ellipse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35240" y="16322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8092440" y="156362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653528" y="1938528"/>
            <a:ext cx="3849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lead task stores both creator and assignee.</a:t>
            </a:r>
            <a:endParaRPr lang="en-US" sz="1030" dirty="0"/>
          </a:p>
        </p:txBody>
      </p:sp>
      <p:sp>
        <p:nvSpPr>
          <p:cNvPr id="17" name="Shape 13"/>
          <p:cNvSpPr/>
          <p:nvPr/>
        </p:nvSpPr>
        <p:spPr>
          <a:xfrm>
            <a:off x="7452360" y="2496312"/>
            <a:ext cx="425196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635240" y="2660904"/>
            <a:ext cx="347472" cy="347472"/>
          </a:xfrm>
          <a:prstGeom prst="ellipse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635240" y="27111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8092440" y="2642616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7653528" y="3017520"/>
            <a:ext cx="3849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 moves to the assignee’s Assigned tab.</a:t>
            </a:r>
            <a:endParaRPr lang="en-US" sz="1030" dirty="0"/>
          </a:p>
        </p:txBody>
      </p:sp>
      <p:sp>
        <p:nvSpPr>
          <p:cNvPr id="22" name="Shape 18"/>
          <p:cNvSpPr/>
          <p:nvPr/>
        </p:nvSpPr>
        <p:spPr>
          <a:xfrm>
            <a:off x="7452360" y="3575304"/>
            <a:ext cx="4251960" cy="877824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635240" y="3739896"/>
            <a:ext cx="347472" cy="347472"/>
          </a:xfrm>
          <a:prstGeom prst="ellipse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635240" y="37901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8092440" y="372160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7653528" y="4096512"/>
            <a:ext cx="3849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creator still sees it in Created by Me.</a:t>
            </a:r>
            <a:endParaRPr lang="en-US" sz="1030" dirty="0"/>
          </a:p>
        </p:txBody>
      </p:sp>
      <p:sp>
        <p:nvSpPr>
          <p:cNvPr id="27" name="Shape 23"/>
          <p:cNvSpPr/>
          <p:nvPr/>
        </p:nvSpPr>
        <p:spPr>
          <a:xfrm>
            <a:off x="7452360" y="4654296"/>
            <a:ext cx="425196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635240" y="4818888"/>
            <a:ext cx="347472" cy="347472"/>
          </a:xfrm>
          <a:prstGeom prst="ellipse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635240" y="486918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8092440" y="480060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7653528" y="5175504"/>
            <a:ext cx="3849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Drawer to update, reassign or create follow-up.</a:t>
            </a:r>
            <a:endParaRPr lang="en-US" sz="10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Release 0.2.43 · Confidential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DRAWER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8463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task editor everywhere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457200" y="96926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a task keeps the user in context — no separate page and no duplicate editor.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1481328"/>
            <a:ext cx="41605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Editable: title, status, priority, due date, type and description.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Summary records the outcome, not just task completion.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is append-only: created, status, reassignment, due, summary and follow-up events.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link opens the linked lead in Pipeline.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tasks use the same Drawer pattern, without collaboration actions.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4837176" y="1335024"/>
            <a:ext cx="6922008" cy="4370832"/>
          </a:xfrm>
          <a:prstGeom prst="roundRect">
            <a:avLst>
              <a:gd name="adj" fmla="val 1674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0" descr="/Users/igorkuznetsov/Projects/my-crm/docs/presentations/assets/feedback-flow/03-task-detail-dra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389888"/>
            <a:ext cx="6812280" cy="42611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5815584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task Drawer · result summary and timeline are part of the task record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Release 0.2.43 · Confidential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REASSIGN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8463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controlled handoff with context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457200" y="96926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Assignee, due date and handoff comment are captured in one action.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" y="1362456"/>
            <a:ext cx="6830568" cy="4306824"/>
          </a:xfrm>
          <a:prstGeom prst="roundRect">
            <a:avLst>
              <a:gd name="adj" fmla="val 1699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8000"/>
              </a:srgbClr>
            </a:outerShdw>
          </a:effectLst>
        </p:spPr>
      </p:sp>
      <p:pic>
        <p:nvPicPr>
          <p:cNvPr id="10" name="Image 0" descr="/Users/igorkuznetsov/Projects/my-crm/docs/presentations/assets/feedback-flow/04-reassign-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6720840" cy="41970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5779008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Reassign modal appears over the task Drawer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498080" y="1572768"/>
            <a:ext cx="4160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7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new assignee.</a:t>
            </a:r>
            <a:endParaRPr lang="en-US" sz="1170" dirty="0"/>
          </a:p>
          <a:p>
            <a:pPr marL="177800" indent="-177800">
              <a:buSzPct val="100000"/>
              <a:buChar char="•"/>
            </a:pPr>
            <a:r>
              <a:rPr lang="en-US" sz="117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 the due date when responsibility changes.</a:t>
            </a:r>
            <a:endParaRPr lang="en-US" sz="1170" dirty="0"/>
          </a:p>
          <a:p>
            <a:pPr marL="177800" indent="-177800">
              <a:buSzPct val="100000"/>
              <a:buChar char="•"/>
            </a:pPr>
            <a:r>
              <a:rPr lang="en-US" sz="117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handoff comment so the new owner knows why.</a:t>
            </a:r>
            <a:endParaRPr lang="en-US" sz="1170" dirty="0"/>
          </a:p>
          <a:p>
            <a:pPr marL="177800" indent="-177800">
              <a:buSzPct val="100000"/>
              <a:buChar char="•"/>
            </a:pPr>
            <a:r>
              <a:rPr lang="en-US" sz="117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reassigned event is appended to sales_task_events.</a:t>
            </a:r>
            <a:endParaRPr lang="en-US" sz="1170" dirty="0"/>
          </a:p>
          <a:p>
            <a:pPr marL="177800" indent="-177800">
              <a:buSzPct val="100000"/>
              <a:buChar char="•"/>
            </a:pPr>
            <a:r>
              <a:rPr lang="en-US" sz="117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owner receives an in-app task_assigned notification.</a:t>
            </a:r>
            <a:endParaRPr lang="en-US" sz="1170" dirty="0"/>
          </a:p>
          <a:p>
            <a:pPr marL="177800" indent="-177800">
              <a:buSzPct val="100000"/>
              <a:buChar char="•"/>
            </a:pPr>
            <a:r>
              <a:rPr lang="en-US" sz="117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Object-level authorization allows assignee, creator, lead owner or Admin.</a:t>
            </a:r>
            <a:endParaRPr lang="en-US" sz="11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Release 0.2.43 · Confidential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8463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every outcome into the next action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457200" y="96926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follow-up task remains connected to its parent through parent_task_id.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1517904"/>
            <a:ext cx="42062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title: “Follow-up with client”.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description, due date and assignee.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task is created on the same lead.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parent receives a follow_up_created timeline event.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Drawer can show the complete follow-up chain.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assignee receives the standard task assignment notification.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64608" y="1362456"/>
            <a:ext cx="6894576" cy="4352544"/>
          </a:xfrm>
          <a:prstGeom prst="roundRect">
            <a:avLst>
              <a:gd name="adj" fmla="val 1681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0" descr="/Users/igorkuznetsov/Projects/my-crm/docs/presentations/assets/feedback-flow/05-follow-up-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472" y="1417320"/>
            <a:ext cx="6784848" cy="42428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19472" y="5824728"/>
            <a:ext cx="6784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is created without leaving the current task context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Release 0.2.43 · Confidential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DATA MODEL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8463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outcomes, history and task chains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457200" y="96926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original sales_tasks model was extended without breaking existing task APIs.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1444752"/>
            <a:ext cx="3291840" cy="4389120"/>
          </a:xfrm>
          <a:prstGeom prst="roundRect">
            <a:avLst>
              <a:gd name="adj" fmla="val 2222"/>
            </a:avLst>
          </a:prstGeom>
          <a:solidFill>
            <a:srgbClr val="FFF1F1"/>
          </a:solidFill>
          <a:ln w="12700">
            <a:solidFill>
              <a:srgbClr val="FFCACA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04088" y="1591056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sales_tasks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04088" y="1965960"/>
            <a:ext cx="2889504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task record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result_summary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parent_task_id → sales_tasks.id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fields retained: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lead_id · status · priority · due_at · assignee · creator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0" y="1444752"/>
            <a:ext cx="3520440" cy="4389120"/>
          </a:xfrm>
          <a:prstGeom prst="roundRect">
            <a:avLst>
              <a:gd name="adj" fmla="val 2078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73168" y="1591056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sales_task_events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773168" y="1965960"/>
            <a:ext cx="3118104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event stream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status_changed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reassigned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due_changed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summary_updated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follow_up_created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event stores actor, body, changes and timestamp.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869680" y="1444752"/>
            <a:ext cx="2816352" cy="4389120"/>
          </a:xfrm>
          <a:prstGeom prst="roundRect">
            <a:avLst>
              <a:gd name="adj" fmla="val 259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070848" y="1591056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070848" y="1965960"/>
            <a:ext cx="241401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created_by_user_id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status + due_at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parent_task_id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creator views and follow-up-chain lookups.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794760" y="3337560"/>
            <a:ext cx="777240" cy="0"/>
          </a:xfrm>
          <a:prstGeom prst="line">
            <a:avLst/>
          </a:prstGeom>
          <a:noFill/>
          <a:ln w="25400">
            <a:solidFill>
              <a:srgbClr val="FF2D2D"/>
            </a:solidFill>
            <a:prstDash val="solid"/>
            <a:headEnd type="none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3589020" y="30632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7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092440" y="3337560"/>
            <a:ext cx="777240" cy="0"/>
          </a:xfrm>
          <a:prstGeom prst="line">
            <a:avLst/>
          </a:prstGeom>
          <a:noFill/>
          <a:ln w="25400">
            <a:solidFill>
              <a:srgbClr val="FF2D2D"/>
            </a:solidFill>
            <a:prstDash val="solid"/>
            <a:headEnd type="none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7886700" y="30632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7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Release 0.2.43 · Confidential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8463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optimistic move — the server decides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457200" y="96926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card stays in its current column until validation and persistence succeed.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" y="1362456"/>
            <a:ext cx="6739128" cy="4251960"/>
          </a:xfrm>
          <a:prstGeom prst="roundRect">
            <a:avLst>
              <a:gd name="adj" fmla="val 1720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8000"/>
              </a:srgbClr>
            </a:outerShdw>
          </a:effectLst>
        </p:spPr>
      </p:sp>
      <p:pic>
        <p:nvPicPr>
          <p:cNvPr id="10" name="Image 0" descr="/Users/igorkuznetsov/Projects/my-crm/docs/presentations/assets/feedback-flow/07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6629400" cy="41422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5724144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remains stable while the server evaluates the target stage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7424928" y="1417320"/>
            <a:ext cx="4279392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607808" y="1581912"/>
            <a:ext cx="347472" cy="347472"/>
          </a:xfrm>
          <a:prstGeom prst="ellipse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07808" y="16322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8065008" y="1563624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requests a move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626096" y="1938528"/>
            <a:ext cx="38770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Drag/drop or lead Drawer status change.</a:t>
            </a:r>
            <a:endParaRPr lang="en-US" sz="1020" dirty="0"/>
          </a:p>
        </p:txBody>
      </p:sp>
      <p:sp>
        <p:nvSpPr>
          <p:cNvPr id="17" name="Shape 13"/>
          <p:cNvSpPr/>
          <p:nvPr/>
        </p:nvSpPr>
        <p:spPr>
          <a:xfrm>
            <a:off x="7424928" y="2496312"/>
            <a:ext cx="4279392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607808" y="2660904"/>
            <a:ext cx="347472" cy="347472"/>
          </a:xfrm>
          <a:prstGeom prst="ellipse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607808" y="27111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8065008" y="2642616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Preflight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7626096" y="3017520"/>
            <a:ext cx="38770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/leads/[id]/transition with preflightOnly.</a:t>
            </a:r>
            <a:endParaRPr lang="en-US" sz="1020" dirty="0"/>
          </a:p>
        </p:txBody>
      </p:sp>
      <p:sp>
        <p:nvSpPr>
          <p:cNvPr id="22" name="Shape 18"/>
          <p:cNvSpPr/>
          <p:nvPr/>
        </p:nvSpPr>
        <p:spPr>
          <a:xfrm>
            <a:off x="7424928" y="3575304"/>
            <a:ext cx="4279392" cy="877824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607808" y="3739896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607808" y="37901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8065008" y="3721608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7626096" y="4096512"/>
            <a:ext cx="38770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→ move. Missing → structured requirements.</a:t>
            </a:r>
            <a:endParaRPr lang="en-US" sz="1020" dirty="0"/>
          </a:p>
        </p:txBody>
      </p:sp>
      <p:sp>
        <p:nvSpPr>
          <p:cNvPr id="27" name="Shape 23"/>
          <p:cNvSpPr/>
          <p:nvPr/>
        </p:nvSpPr>
        <p:spPr>
          <a:xfrm>
            <a:off x="7424928" y="4654296"/>
            <a:ext cx="4279392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607808" y="4818888"/>
            <a:ext cx="347472" cy="347472"/>
          </a:xfrm>
          <a:prstGeom prst="ellipse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607808" y="486918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8065008" y="480060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7626096" y="5175504"/>
            <a:ext cx="38770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submits fields + transition in one operation.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Release 0.2.43 · Confidential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WORKSPACE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8463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data now lives on the lead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457200" y="96926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fields are staged before conversion and copied into the signed-client flow where relevant.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1508760"/>
            <a:ext cx="41605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/ proposal — text sent to the client; required for Proposal Sent.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amount — optional numeric value for future analytics.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number — one of the accepted signing identifiers.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 Client ID — alternative signing identifier and B2B linkage seed.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potential remains the forecast input and is required for forward progression.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4837176" y="1335024"/>
            <a:ext cx="6922008" cy="4370832"/>
          </a:xfrm>
          <a:prstGeom prst="roundRect">
            <a:avLst>
              <a:gd name="adj" fmla="val 1674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0" descr="/Users/igorkuznetsov/Projects/my-crm/docs/presentations/assets/feedback-flow/08-lead-overview-commercial-fiel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389888"/>
            <a:ext cx="6812280" cy="42611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5815584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Overview · commercial fields are editable before the transition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Release 0.2.43 · Confidential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MATRIX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8463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by forward transition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457200" y="96926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Backward moves and Rejected do not use commercial gates. Signed remains terminal.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44752"/>
          <a:ext cx="11201400" cy="4206240"/>
        </p:xfrm>
        <a:graphic>
          <a:graphicData uri="http://schemas.openxmlformats.org/drawingml/2006/table">
            <a:tbl>
              <a:tblPr/>
              <a:tblGrid>
                <a:gridCol w="2423160"/>
                <a:gridCol w="4983480"/>
                <a:gridCol w="3794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Transition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 before move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D2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→ In Progress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contact: name + email or phone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potential &gt; 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workable lead with forecast value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 → Proposal Sent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Non-empty Pricing / proposal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Proof that the commercial offer exists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Proposal Sent → Negotiation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follow-up task created in the transition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Negotiation always has a scheduled next step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Negotiation → Signed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 number OR Corp Client ID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selected Account Manager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signed deal is ready for handover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02920" y="5833872"/>
            <a:ext cx="2926080" cy="320040"/>
          </a:xfrm>
          <a:prstGeom prst="roundRect">
            <a:avLst>
              <a:gd name="adj" fmla="val 34286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59024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SKIPS ACCUMULATE REQUIREMENTS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611880" y="5833872"/>
            <a:ext cx="3246120" cy="320040"/>
          </a:xfrm>
          <a:prstGeom prst="roundRect">
            <a:avLst>
              <a:gd name="adj" fmla="val 34286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11880" y="590245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BACKWARD / REJECTED: NO COMMERCIAL GATES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7040880" y="5833872"/>
            <a:ext cx="1508760" cy="320040"/>
          </a:xfrm>
          <a:prstGeom prst="roundRect">
            <a:avLst>
              <a:gd name="adj" fmla="val 34286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040880" y="59024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SIGNED: TERMINAL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Release 0.2.43 · Confidential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GATE MODAL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8463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only for what is missing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457200" y="96926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response is structured — each missing requirement becomes a chip and an inline field.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" y="1316736"/>
            <a:ext cx="6922008" cy="4370832"/>
          </a:xfrm>
          <a:prstGeom prst="roundRect">
            <a:avLst>
              <a:gd name="adj" fmla="val 1674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8000"/>
              </a:srgbClr>
            </a:outerShdw>
          </a:effectLst>
        </p:spPr>
      </p:sp>
      <p:pic>
        <p:nvPicPr>
          <p:cNvPr id="10" name="Image 0" descr="/Users/igorkuznetsov/Projects/my-crm/docs/presentations/assets/feedback-flow/09-stage-gate-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6812280" cy="42611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5797296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Negotiation requires potential, proposal and a follow-up task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589520" y="1536192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7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chips make the reason for blocking explicit.</a:t>
            </a:r>
            <a:endParaRPr lang="en-US" sz="1170" dirty="0"/>
          </a:p>
          <a:p>
            <a:pPr marL="177800" indent="-177800">
              <a:buSzPct val="100000"/>
              <a:buChar char="•"/>
            </a:pPr>
            <a:r>
              <a:rPr lang="en-US" sz="117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fields are rendered only for missing requirements.</a:t>
            </a:r>
            <a:endParaRPr lang="en-US" sz="1170" dirty="0"/>
          </a:p>
          <a:p>
            <a:pPr marL="177800" indent="-177800">
              <a:buSzPct val="100000"/>
              <a:buChar char="•"/>
            </a:pPr>
            <a:r>
              <a:rPr lang="en-US" sz="117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 embeds follow-up title, due date, description and assignee.</a:t>
            </a:r>
            <a:endParaRPr lang="en-US" sz="1170" dirty="0"/>
          </a:p>
          <a:p>
            <a:pPr marL="177800" indent="-177800">
              <a:buSzPct val="100000"/>
              <a:buChar char="•"/>
            </a:pPr>
            <a:r>
              <a:rPr lang="en-US" sz="117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embeds contract / Corp Client ID plus Account Manager.</a:t>
            </a:r>
            <a:endParaRPr lang="en-US" sz="1170" dirty="0"/>
          </a:p>
          <a:p>
            <a:pPr marL="177800" indent="-177800">
              <a:buSzPct val="100000"/>
              <a:buChar char="•"/>
            </a:pPr>
            <a:r>
              <a:rPr lang="en-US" sz="117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sends fields and stage payload to the transition service.</a:t>
            </a:r>
            <a:endParaRPr lang="en-US" sz="1170" dirty="0"/>
          </a:p>
          <a:p>
            <a:pPr marL="177800" indent="-177800">
              <a:buSzPct val="100000"/>
              <a:buChar char="•"/>
            </a:pPr>
            <a:r>
              <a:rPr lang="en-US" sz="117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leaves the lead untouched in its original column.</a:t>
            </a:r>
            <a:endParaRPr lang="en-US" sz="11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Release 0.2.43 · Confidential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HANDOVER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8463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negotiation to an owned client relationship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457200" y="96926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transition finalizes CRM conversion and creates the first two post-sale responsibilities.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1874520"/>
            <a:ext cx="1965960" cy="2240280"/>
          </a:xfrm>
          <a:prstGeom prst="roundRect">
            <a:avLst>
              <a:gd name="adj" fmla="val 3721"/>
            </a:avLst>
          </a:prstGeom>
          <a:solidFill>
            <a:srgbClr val="FFFBEB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2039112"/>
            <a:ext cx="347472" cy="347472"/>
          </a:xfrm>
          <a:prstGeom prst="ellipse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20894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43000" y="202082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input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04088" y="2395728"/>
            <a:ext cx="15636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# OR Corp Client 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Account Manager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468880" y="2990088"/>
            <a:ext cx="411480" cy="0"/>
          </a:xfrm>
          <a:prstGeom prst="line">
            <a:avLst/>
          </a:prstGeom>
          <a:noFill/>
          <a:ln w="25400">
            <a:solidFill>
              <a:srgbClr val="FF2D2D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880360" y="1874520"/>
            <a:ext cx="1965960" cy="2240280"/>
          </a:xfrm>
          <a:prstGeom prst="roundRect">
            <a:avLst>
              <a:gd name="adj" fmla="val 3721"/>
            </a:avLst>
          </a:prstGeom>
          <a:solidFill>
            <a:srgbClr val="FFF1F1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063240" y="2039112"/>
            <a:ext cx="347472" cy="347472"/>
          </a:xfrm>
          <a:prstGeom prst="ellipse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63240" y="20894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520440" y="202082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081528" y="2395728"/>
            <a:ext cx="15636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status persisted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+ activity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846320" y="2990088"/>
            <a:ext cx="411480" cy="0"/>
          </a:xfrm>
          <a:prstGeom prst="line">
            <a:avLst/>
          </a:prstGeom>
          <a:noFill/>
          <a:ln w="25400">
            <a:solidFill>
              <a:srgbClr val="FF2D2D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257800" y="1874520"/>
            <a:ext cx="1965960" cy="2240280"/>
          </a:xfrm>
          <a:prstGeom prst="roundRect">
            <a:avLst>
              <a:gd name="adj" fmla="val 3721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40680" y="2039112"/>
            <a:ext cx="347472" cy="347472"/>
          </a:xfrm>
          <a:prstGeom prst="ellipse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40680" y="20894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897880" y="202082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conversion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58968" y="2395728"/>
            <a:ext cx="15636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/ update client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Corp Client ID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223760" y="2990088"/>
            <a:ext cx="411480" cy="0"/>
          </a:xfrm>
          <a:prstGeom prst="line">
            <a:avLst/>
          </a:prstGeom>
          <a:noFill/>
          <a:ln w="25400">
            <a:solidFill>
              <a:srgbClr val="FF2D2D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7635240" y="1874520"/>
            <a:ext cx="1965960" cy="224028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818120" y="2039112"/>
            <a:ext cx="347472" cy="347472"/>
          </a:xfrm>
          <a:prstGeom prst="ellipse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818120" y="20894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8275320" y="202082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Client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836408" y="2395728"/>
            <a:ext cx="15636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High-priority task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owner / signer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9601200" y="2990088"/>
            <a:ext cx="411480" cy="0"/>
          </a:xfrm>
          <a:prstGeom prst="line">
            <a:avLst/>
          </a:prstGeom>
          <a:noFill/>
          <a:ln w="25400">
            <a:solidFill>
              <a:srgbClr val="FF2D2D"/>
            </a:solidFill>
            <a:prstDash val="solid"/>
            <a:headEnd type="none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10012680" y="1874520"/>
            <a:ext cx="1965960" cy="2240280"/>
          </a:xfrm>
          <a:prstGeom prst="roundRect">
            <a:avLst>
              <a:gd name="adj" fmla="val 3721"/>
            </a:avLst>
          </a:prstGeom>
          <a:solidFill>
            <a:srgbClr val="ECFDF5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195560" y="2039112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195560" y="20894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0652760" y="202082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Client Call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0213848" y="2395728"/>
            <a:ext cx="15636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 to selected AM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in ~2 days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1554480" y="4709160"/>
            <a:ext cx="9098280" cy="96012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755648" y="4855464"/>
            <a:ext cx="8695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DUPLICATE ONBOARDING TASKS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1755648" y="5230368"/>
            <a:ext cx="8695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previous generic onboarding task was aligned to “Onboard Client”; conversion creates it once, while the transition service adds only “First Client Call” for the selected Account Manager.</a:t>
            </a:r>
            <a:endParaRPr lang="en-US" sz="10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Release 0.2.43 · Confidential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CONTRACTS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8463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designed around explicit operations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457200" y="96926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server owns validation, authorization, history and side effects.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5486400" cy="694944"/>
          </a:xfrm>
          <a:prstGeom prst="roundRect">
            <a:avLst>
              <a:gd name="adj" fmla="val 10526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" y="1563624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/tasks?scope=created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04088" y="1938528"/>
            <a:ext cx="5084064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created by the signed-in user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502920" y="2276856"/>
            <a:ext cx="54864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088" y="2423160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/tasks/[id]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04088" y="2798064"/>
            <a:ext cx="5084064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+ events + follow-up chain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502920" y="3136392"/>
            <a:ext cx="5486400" cy="694944"/>
          </a:xfrm>
          <a:prstGeom prst="roundRect">
            <a:avLst>
              <a:gd name="adj" fmla="val 10526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4088" y="3282696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/tasks/[id]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04088" y="3657600"/>
            <a:ext cx="5084064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Edit, summary, status or reassign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502920" y="3995928"/>
            <a:ext cx="54864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" y="4142232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/tasks/[id]/follow-up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04088" y="4517136"/>
            <a:ext cx="5084064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linked follow-up task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502920" y="4855464"/>
            <a:ext cx="5486400" cy="694944"/>
          </a:xfrm>
          <a:prstGeom prst="roundRect">
            <a:avLst>
              <a:gd name="adj" fmla="val 10526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4088" y="5001768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/leads/[id]/transition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704088" y="5376672"/>
            <a:ext cx="5084064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Preflight or execute a stage transition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6309360" y="141732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FF1F1"/>
          </a:solidFill>
          <a:ln w="12700">
            <a:solidFill>
              <a:srgbClr val="FFCACA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510528" y="156362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object authorization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510528" y="1938528"/>
            <a:ext cx="4992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Allowed when the user is: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 assignee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 creator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linked lead owner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Admin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Page-level salesPipeline access is still required first.</a:t>
            </a:r>
            <a:endParaRPr lang="en-US" sz="1120" dirty="0"/>
          </a:p>
        </p:txBody>
      </p:sp>
      <p:sp>
        <p:nvSpPr>
          <p:cNvPr id="27" name="Shape 24"/>
          <p:cNvSpPr/>
          <p:nvPr/>
        </p:nvSpPr>
        <p:spPr>
          <a:xfrm>
            <a:off x="6309360" y="352044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0F1115"/>
          </a:solidFill>
          <a:ln w="12700">
            <a:solidFill>
              <a:srgbClr val="0F1115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510528" y="366674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gate error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510528" y="4041648"/>
            <a:ext cx="49926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422 · code: "STAGE_REQUIREMENTS"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missing: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{ key: "pricingProposal",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label: "Pricing / proposal sent to client"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renders the modal from this response.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Release 0.2.43 · Confidential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PLAYBOOK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8463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team should use the new flow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457200" y="96926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checklist for Sales Managers, Account Managers and Admins.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1444752"/>
            <a:ext cx="3493008" cy="4526280"/>
          </a:xfrm>
          <a:prstGeom prst="roundRect">
            <a:avLst>
              <a:gd name="adj" fmla="val 2094"/>
            </a:avLst>
          </a:prstGeom>
          <a:solidFill>
            <a:srgbClr val="FFF1F1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" y="1591056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/ Account Manager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04088" y="1965960"/>
            <a:ext cx="309067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Start the day in My Space.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Review Assigned and overdue work.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Use Result Summary when closing a task.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Create a follow-up instead of an unlinked reminder.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Complete gate fields when moving deals forward.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70248" y="1444752"/>
            <a:ext cx="3493008" cy="4526280"/>
          </a:xfrm>
          <a:prstGeom prst="roundRect">
            <a:avLst>
              <a:gd name="adj" fmla="val 2094"/>
            </a:avLst>
          </a:prstGeom>
          <a:solidFill>
            <a:srgbClr val="EFF6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71416" y="1591056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creator / delegator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471416" y="1965960"/>
            <a:ext cx="309067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Open Created by Me.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Check ownership and due dates.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Reassign with a clear comment.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Review the timeline before escalation.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Open the linked lead for deal context.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37576" y="1444752"/>
            <a:ext cx="3493008" cy="4526280"/>
          </a:xfrm>
          <a:prstGeom prst="roundRect">
            <a:avLst>
              <a:gd name="adj" fmla="val 2094"/>
            </a:avLst>
          </a:prstGeom>
          <a:solidFill>
            <a:srgbClr val="ECFDF5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38744" y="1591056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/ owner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238744" y="1965960"/>
            <a:ext cx="309067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Keep users and roles accurate.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Monitor stage data quality.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Verify signed clients have an AM.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Ensure notifications are reviewed.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Use analytics after commercial fields are consistently populated.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123444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deal has a next action.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stage has proof.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685800" y="3063240"/>
            <a:ext cx="2487168" cy="1645920"/>
          </a:xfrm>
          <a:prstGeom prst="roundRect">
            <a:avLst>
              <a:gd name="adj" fmla="val 4444"/>
            </a:avLst>
          </a:prstGeom>
          <a:solidFill>
            <a:srgbClr val="1C1F25"/>
          </a:solidFill>
          <a:ln w="12700">
            <a:solidFill>
              <a:srgbClr val="3438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1012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3730752"/>
            <a:ext cx="2121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Space centralizes personal, assigned and delegated work.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720" y="3063240"/>
            <a:ext cx="2487168" cy="1645920"/>
          </a:xfrm>
          <a:prstGeom prst="roundRect">
            <a:avLst>
              <a:gd name="adj" fmla="val 4444"/>
            </a:avLst>
          </a:prstGeom>
          <a:solidFill>
            <a:srgbClr val="1C1F25"/>
          </a:solidFill>
          <a:ln w="12700">
            <a:solidFill>
              <a:srgbClr val="34384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0" y="331012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657600" y="3730752"/>
            <a:ext cx="2121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events, summaries and follow-up chains preserve context.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3063240"/>
            <a:ext cx="2487168" cy="1645920"/>
          </a:xfrm>
          <a:prstGeom prst="roundRect">
            <a:avLst>
              <a:gd name="adj" fmla="val 4444"/>
            </a:avLst>
          </a:prstGeom>
          <a:solidFill>
            <a:srgbClr val="1C1F25"/>
          </a:solidFill>
          <a:ln w="12700">
            <a:solidFill>
              <a:srgbClr val="34384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331012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46520" y="3730752"/>
            <a:ext cx="2121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gates require the information needed for the next phase.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052560" y="3063240"/>
            <a:ext cx="2487168" cy="1645920"/>
          </a:xfrm>
          <a:prstGeom prst="roundRect">
            <a:avLst>
              <a:gd name="adj" fmla="val 4444"/>
            </a:avLst>
          </a:prstGeom>
          <a:solidFill>
            <a:srgbClr val="1C1F25"/>
          </a:solidFill>
          <a:ln w="12700">
            <a:solidFill>
              <a:srgbClr val="34384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235440" y="331012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Handover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235440" y="3730752"/>
            <a:ext cx="2121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creates an owned client and the first AM action.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5800" y="5897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production · https://applitaxi.space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Appli Taxi Oz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Yango Sales Operations — Task Hub &amp; Stage Gates Onboarding</dc:title>
  <dc:subject>Onboarding: My Space Task Hub and Pipeline Stage Gates</dc:subject>
  <dc:creator>Appli Taxi Oz · Sales Operations</dc:creator>
  <cp:lastModifiedBy>Appli Taxi Oz · Sales Operations</cp:lastModifiedBy>
  <cp:revision>1</cp:revision>
  <dcterms:created xsi:type="dcterms:W3CDTF">2026-07-19T17:47:23Z</dcterms:created>
  <dcterms:modified xsi:type="dcterms:W3CDTF">2026-07-19T17:47:23Z</dcterms:modified>
</cp:coreProperties>
</file>